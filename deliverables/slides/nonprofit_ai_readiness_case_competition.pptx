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Why Nonprofits Want AI but Can't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A data infrastructure story from 930 nonprofit survey responses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Arial"/>
              </a:rPr>
              <a:t>Bay Area Data Analytics Case Competition</a:t>
            </a:r>
          </a:p>
          <a:p>
            <a:pPr algn="l"/>
            <a:r>
              <a:rPr sz="1500" b="0">
                <a:solidFill>
                  <a:srgbClr val="1F4E79"/>
                </a:solidFill>
                <a:latin typeface="Arial"/>
              </a:rPr>
              <a:t>GivingTuesday x Gates Foundation track</a:t>
            </a:r>
          </a:p>
        </p:txBody>
      </p:sp>
      <p:pic>
        <p:nvPicPr>
          <p:cNvPr id="6" name="Picture 5" descr="fig_06_signature_periodic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822960"/>
            <a:ext cx="5303520" cy="2964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headline is simple: nonprofits do not need more AI hype, they need better data plumbing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23443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743B"/>
                </a:solidFill>
                <a:latin typeface="Arial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7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want AI help organizing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0972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23443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664207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already use AI for that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09728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C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23443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CB4AC"/>
                </a:solidFill>
                <a:latin typeface="Arial"/>
              </a:rPr>
              <a:t>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64207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Foundation-needed segment</a:t>
            </a:r>
          </a:p>
        </p:txBody>
      </p:sp>
      <p:pic>
        <p:nvPicPr>
          <p:cNvPr id="13" name="Picture 12" descr="fig_06_want_use_gap_diver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6583680" cy="40862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240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Organizing data has the biggest unmet need in the whole survey, with a 41-point want-use gap.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36.99% of respondents want at least three more AI use cases than they currently use.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209 nonprofits fall into the Foundation-needed segment, meaning demand is real but the basics are not ready yet.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sample is global, but it is still a small-org dataset with North America and India doing most of the talking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8871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930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survey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0515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18871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743B"/>
                </a:solidFill>
                <a:latin typeface="Arial"/>
              </a:rPr>
              <a:t>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618488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15 staff or fewer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0515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C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18871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CB4AC"/>
                </a:solidFill>
                <a:latin typeface="Arial"/>
              </a:rPr>
              <a:t>62.6%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18488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Global North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0515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1188719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56%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1618488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AI Consumers</a:t>
            </a:r>
          </a:p>
        </p:txBody>
      </p:sp>
      <p:pic>
        <p:nvPicPr>
          <p:cNvPr id="16" name="Picture 15" descr="fig_00a_contin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657600" cy="2263934"/>
          </a:xfrm>
          <a:prstGeom prst="rect">
            <a:avLst/>
          </a:prstGeom>
        </p:spPr>
      </p:pic>
      <p:pic>
        <p:nvPicPr>
          <p:cNvPr id="17" name="Picture 16" descr="fig_00b_org_siz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11680"/>
            <a:ext cx="3474720" cy="2150737"/>
          </a:xfrm>
          <a:prstGeom prst="rect">
            <a:avLst/>
          </a:prstGeom>
        </p:spPr>
      </p:pic>
      <p:pic>
        <p:nvPicPr>
          <p:cNvPr id="18" name="Picture 17" descr="fig_00h_cluster_by_r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011680"/>
            <a:ext cx="3566160" cy="19615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official report found three personas, and our analysis goes further on where demand and readiness come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Arial"/>
              </a:rPr>
              <a:t>What the official report already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AI Consumers are the largest cluster (56%), Late Adopters are next (28%), and Skeptics are smallest (15%).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Organizational capacity is a weak readiness proxy.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Those with technical backgrounds tend to be more wary of AI risks.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The biggest unmet AI need is help organizing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43B"/>
                </a:solidFill>
                <a:latin typeface="Arial"/>
              </a:rPr>
              <a:t>Where this deck adds something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It turns the want-use gap into a funder-ready segmentation.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It shows India and Africa are not interchangeable inside the Global South story.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It challenges the tidy 15-staff threshold by showing the steepest staffing jump happens earlier.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It uses open text to show hope and fear living side by 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Sources: GivingTuesday AI Readiness and Adoption in the Nonprofit Sector in 2024; our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Late Adopters have the biggest Want-Use Gap, which makes them the most important intervention group</a:t>
            </a:r>
          </a:p>
        </p:txBody>
      </p:sp>
      <p:pic>
        <p:nvPicPr>
          <p:cNvPr id="4" name="Picture 3" descr="fig_06_wu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4937760" cy="2710036"/>
          </a:xfrm>
          <a:prstGeom prst="rect">
            <a:avLst/>
          </a:prstGeom>
        </p:spPr>
      </p:pic>
      <p:pic>
        <p:nvPicPr>
          <p:cNvPr id="5" name="Picture 4" descr="fig_06_wug_vs_inf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43000"/>
            <a:ext cx="5303520" cy="3479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Arial"/>
              </a:rPr>
              <a:t>Late Adopters average a 2.41-point gap, versus 1.81 for Consumers and 0.74 for Skeptics.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Technical respondents are not calmer about AI, they are much more likely to worry about bias</a:t>
            </a:r>
          </a:p>
        </p:txBody>
      </p:sp>
      <p:pic>
        <p:nvPicPr>
          <p:cNvPr id="4" name="Picture 3" descr="fig_02_risk_by_role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492240" cy="3860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6304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79.5% of Tech/MERL respondents flagged biased AI decisions, versus 53.2% of non-technical peers.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That was the only risk difference that stayed significant after Holm correction (adjusted p = 0.007).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This pushes against the idea that more technical literacy simply reduces fear.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India and Africa tell different readiness stories even before we compare the Global South to the North</a:t>
            </a:r>
          </a:p>
        </p:txBody>
      </p:sp>
      <p:pic>
        <p:nvPicPr>
          <p:cNvPr id="4" name="Picture 3" descr="fig_05_regional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6627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 Treat Latin America and Europe cautiously due to small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Each extra piece of data infrastructure lifts real-world AI use, even before we get fancy about modeling</a:t>
            </a:r>
          </a:p>
        </p:txBody>
      </p:sp>
      <p:pic>
        <p:nvPicPr>
          <p:cNvPr id="4" name="Picture 3" descr="fig_08_infrastructur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5577840" cy="36990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41732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Organizations with an infrastructure score of 0 average 1.23 AI use cases.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At a score of 5, that rises to 3.49 use cases.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In the controlled logistic model, cloud storage still carries an odds ratio of 1.93 and data agreements 1.58.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Org age and the broad North-South split stop mattering once those operational signals are in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15-staff threshold is not magic, because the first major staffing jump happens earlier</a:t>
            </a:r>
          </a:p>
        </p:txBody>
      </p:sp>
      <p:pic>
        <p:nvPicPr>
          <p:cNvPr id="4" name="Picture 3" descr="fig_02_staff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5669280" cy="3647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5544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The biggest staffing jump is from 0-5 staff to 6-15 staff, not from 6-15 to 16-30.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That tells us the threshold story is really about when the first technical hire becomes possible.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So '15 staff' is a rough planning heuristic, not a law of nonprofit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Hope and fear coexist in the open text, and Skeptics sound both more negative and more varied</a:t>
            </a:r>
          </a:p>
        </p:txBody>
      </p:sp>
      <p:pic>
        <p:nvPicPr>
          <p:cNvPr id="4" name="Picture 3" descr="fig_04_hope_fear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760720" cy="3268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234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Arial"/>
              </a:rPr>
              <a:t>Verified quotes from respondents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00200"/>
            <a:ext cx="4297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"This can help bridge the educational gap in rural areas by offering high-quality resources that are otherwise inaccessible"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AI Consumers, India, Admin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"However, this potential is accompanied by significant challenges and risks that we must navigate carefully"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AI Consumers, India, Governance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"Working in journalism, a great fear is abusing AI in the creation of trustworthy information &amp; relaying data"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AI Consumers, North America, Fundraiser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"I fear that AI will take the human-ness out of our work, that people will further disconnect from others"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AI Consumers, North America,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 open-text responses, our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most actionable quadrant is the nonprofits that want more AI but still need their foundation built first</a:t>
            </a:r>
          </a:p>
        </p:txBody>
      </p:sp>
      <p:pic>
        <p:nvPicPr>
          <p:cNvPr id="4" name="Picture 3" descr="fig_06_wug_segme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5120640" cy="3764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46304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Foundation-needed includes 209 nonprofits, or 22.47% of the sample.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Activation-ready groups can absorb pilots now.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Disengaged groups need AI literacy and low-stakes data practice, not a new product demo.</a:t>
            </a:r>
          </a:p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Already-well-served groups can become peer mentors and testbeds.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Our recommendation is to fund data infrastructure first, tailor tools by segment second, and treat AI readiness as an operating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43B"/>
                </a:solidFill>
                <a:latin typeface="Arial"/>
              </a:rPr>
              <a:t>For funders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Shift grant dollars from shiny AI pilots toward cloud storage, policies, and data staffing for Foundation-needed nonprofits.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80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Arial"/>
              </a:rPr>
              <a:t>For tool builders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Design separate journeys for Activation-ready, Foundation-needed, and Disengaged organizations instead of shipping one generic nonprofit AI offer.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80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B4AC"/>
                </a:solidFill>
                <a:latin typeface="Arial"/>
              </a:rPr>
              <a:t>For nonprofits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rial"/>
              </a:defRPr>
            </a:pPr>
            <a:r>
              <a:t>Use the infrastructure score as a self-check before adopting more tools. If the plumbing is weak, fix that before scaling AI.</a:t>
            </a:r>
          </a:p>
        </p:txBody>
      </p:sp>
      <p:pic>
        <p:nvPicPr>
          <p:cNvPr id="10" name="Picture 9" descr="fig_06_signature_periodic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3320"/>
            <a:ext cx="10287000" cy="57508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The story is useful, but it still comes with sample and method limits we should say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rial"/>
              </a:defRPr>
            </a:pPr>
            <a:r>
              <a:t>This is cross-sectional self-report data, so we can rank associations but not claim causation.</a:t>
            </a:r>
          </a:p>
          <a:p>
            <a:pPr>
              <a:defRPr sz="1600">
                <a:solidFill>
                  <a:srgbClr val="1E1E1E"/>
                </a:solidFill>
                <a:latin typeface="Arial"/>
              </a:defRPr>
            </a:pPr>
            <a:r>
              <a:t>North America and India dominate the sample, while Africa, Latin America, Europe, and Australia are much smaller.</a:t>
            </a:r>
          </a:p>
          <a:p>
            <a:pPr>
              <a:defRPr sz="1600">
                <a:solidFill>
                  <a:srgbClr val="1E1E1E"/>
                </a:solidFill>
                <a:latin typeface="Arial"/>
              </a:defRPr>
            </a:pPr>
            <a:r>
              <a:t>The open-text analysis is transparent and reproducible, but the lexicon rules are still simplifications.</a:t>
            </a:r>
          </a:p>
          <a:p>
            <a:pPr>
              <a:defRPr sz="1600">
                <a:solidFill>
                  <a:srgbClr val="1E1E1E"/>
                </a:solidFill>
                <a:latin typeface="Arial"/>
              </a:defRPr>
            </a:pPr>
            <a:r>
              <a:t>Our fresh HDBSCAN rerun only partially recreates the published clusters, which means the original parameter choices matter.</a:t>
            </a:r>
          </a:p>
          <a:p>
            <a:pPr>
              <a:defRPr sz="1600">
                <a:solidFill>
                  <a:srgbClr val="1E1E1E"/>
                </a:solidFill>
                <a:latin typeface="Arial"/>
              </a:defRPr>
            </a:pPr>
            <a:r>
              <a:t>The predictive model is modest (AUC around 0.64), so it is an explanation tool, not a deployment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Appendix: a five-persona lens helps split demand-rich nonprofits from true skeptics</a:t>
            </a:r>
          </a:p>
        </p:txBody>
      </p:sp>
      <p:pic>
        <p:nvPicPr>
          <p:cNvPr id="4" name="Picture 3" descr="fig_03_persona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5577840" cy="2903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132588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    persona_name                                                                                          story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  Quiet Builders         These groups already have the basics, so their readiness shows up in actual daily use.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Activation-Ready This group moves steadily, with moderate demand, moderate use, and no single dominant pattern.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Steady Pragmatists This group moves steadily, with moderate demand, moderate use, and no single dominant pattern.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Prediction-Curious       They are aiming at advanced use cases before the underlying data foundation looks ready.</a:t>
            </a:r>
          </a:p>
          <a:p>
            <a:pPr algn="l"/>
            <a:r>
              <a:rPr sz="1200" b="0">
                <a:solidFill>
                  <a:srgbClr val="1E1E1E"/>
                </a:solidFill>
                <a:latin typeface="Arial"/>
              </a:rPr>
              <a:t>   Burned and Wary      Skepticism here looks learned, not abstract, with lower comfort and higher risk salience.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E1E1E"/>
                </a:solidFill>
                <a:latin typeface="Arial"/>
              </a:rPr>
              <a:t>Appendix: the predictive model is modest, which is exactly why we use it for explanation instead of forecasting</a:t>
            </a:r>
          </a:p>
        </p:txBody>
      </p:sp>
      <p:pic>
        <p:nvPicPr>
          <p:cNvPr id="4" name="Picture 3" descr="fig_07_cv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657600" cy="2262510"/>
          </a:xfrm>
          <a:prstGeom prst="rect">
            <a:avLst/>
          </a:prstGeom>
        </p:spPr>
      </p:pic>
      <p:pic>
        <p:nvPicPr>
          <p:cNvPr id="5" name="Picture 4" descr="fig_07_rf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3657600" cy="2190284"/>
          </a:xfrm>
          <a:prstGeom prst="rect">
            <a:avLst/>
          </a:prstGeom>
        </p:spPr>
      </p:pic>
      <p:pic>
        <p:nvPicPr>
          <p:cNvPr id="6" name="Picture 5" descr="fig_07_logit_odds_rat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88720"/>
            <a:ext cx="3474720" cy="20463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40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Arial"/>
              </a:rPr>
              <a:t>              model  accuracy_mean  accuracy_std  f1_mean  f1_std  roc_auc_mean  roc_auc_std</a:t>
            </a:r>
          </a:p>
          <a:p>
            <a:pPr algn="l"/>
            <a:r>
              <a:rPr sz="1100" b="0">
                <a:solidFill>
                  <a:srgbClr val="1E1E1E"/>
                </a:solidFill>
                <a:latin typeface="Arial"/>
              </a:rPr>
              <a:t>Logistic Regression          0.598         0.038    0.608   0.039         0.639        0.042</a:t>
            </a:r>
          </a:p>
          <a:p>
            <a:pPr algn="l"/>
            <a:r>
              <a:rPr sz="1100" b="0">
                <a:solidFill>
                  <a:srgbClr val="1E1E1E"/>
                </a:solidFill>
                <a:latin typeface="Arial"/>
              </a:rPr>
              <a:t>      Random Forest          0.590         0.023    0.613   0.022         0.640        0.029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Source: GivingTuesday AI Readiness Survey 2024, n=930, our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